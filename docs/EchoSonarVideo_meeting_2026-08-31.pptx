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loss</c:v>
                </c:pt>
              </c:strCache>
            </c:strRef>
          </c:tx>
          <c:spPr>
            <a:ln w="31750">
              <a:solidFill>
                <a:srgbClr val="0B5F73"/>
              </a:solidFill>
            </a:ln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40</c:v>
                </c:pt>
                <c:pt idx="2">
                  <c:v>80</c:v>
                </c:pt>
                <c:pt idx="3">
                  <c:v>125</c:v>
                </c:pt>
                <c:pt idx="4">
                  <c:v>205</c:v>
                </c:pt>
                <c:pt idx="5">
                  <c:v>290</c:v>
                </c:pt>
                <c:pt idx="6">
                  <c:v>370</c:v>
                </c:pt>
                <c:pt idx="7">
                  <c:v>450</c:v>
                </c:pt>
                <c:pt idx="8">
                  <c:v>535</c:v>
                </c:pt>
                <c:pt idx="9">
                  <c:v>616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1.11</c:v>
                </c:pt>
                <c:pt idx="1">
                  <c:v>0.19</c:v>
                </c:pt>
                <c:pt idx="2">
                  <c:v>0.14</c:v>
                </c:pt>
                <c:pt idx="3">
                  <c:v>0.17</c:v>
                </c:pt>
                <c:pt idx="4">
                  <c:v>0.11</c:v>
                </c:pt>
                <c:pt idx="5">
                  <c:v>0.12</c:v>
                </c:pt>
                <c:pt idx="6">
                  <c:v>0.11</c:v>
                </c:pt>
                <c:pt idx="7">
                  <c:v>0.1</c:v>
                </c:pt>
                <c:pt idx="8">
                  <c:v>0.12</c:v>
                </c:pt>
                <c:pt idx="9">
                  <c:v>0.13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1000">
                <a:solidFill>
                  <a:srgbClr val="5C5C5C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C5C5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468880"/>
            <a:ext cx="146304" cy="1737360"/>
          </a:xfrm>
          <a:prstGeom prst="rect">
            <a:avLst/>
          </a:prstGeom>
          <a:solidFill>
            <a:srgbClr val="0B5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34440" y="237744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1A1A1A"/>
                </a:solidFill>
              </a:rPr>
              <a:t>EchoSonarVideo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29184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B5F73"/>
                </a:solidFill>
              </a:rPr>
              <a:t>Agentic RL on multi-view cardiac ultrasound video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603504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</a:rPr>
              <a:t>Lab meeting   ·   2026-08-31   ·   Mashrafi Monon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45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5F73"/>
                </a:solidFill>
              </a:rP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457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72768"/>
            <a:ext cx="1463040" cy="50292"/>
          </a:xfrm>
          <a:prstGeom prst="rect">
            <a:avLst/>
          </a:prstGeom>
          <a:solidFill>
            <a:srgbClr val="0B5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468880"/>
            <a:ext cx="3210458" cy="1554480"/>
          </a:xfrm>
          <a:prstGeom prst="roundRect">
            <a:avLst/>
          </a:prstGeom>
          <a:solidFill>
            <a:srgbClr val="E4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500" b="1">
                <a:solidFill>
                  <a:srgbClr val="1A1A1A"/>
                </a:solidFill>
              </a:rPr>
              <a:t>~19 named views</a:t>
            </a:r>
          </a:p>
          <a:p>
            <a:pPr algn="ctr"/>
            <a:r>
              <a:rPr sz="1500" b="1">
                <a:solidFill>
                  <a:srgbClr val="1A1A1A"/>
                </a:solidFill>
              </a:rPr>
              <a:t>per study</a:t>
            </a:r>
          </a:p>
        </p:txBody>
      </p:sp>
      <p:sp>
        <p:nvSpPr>
          <p:cNvPr id="6" name="Chevron 5"/>
          <p:cNvSpPr/>
          <p:nvPr/>
        </p:nvSpPr>
        <p:spPr>
          <a:xfrm>
            <a:off x="4079138" y="3017520"/>
            <a:ext cx="365760" cy="457200"/>
          </a:xfrm>
          <a:prstGeom prst="chevron">
            <a:avLst/>
          </a:prstGeom>
          <a:solidFill>
            <a:srgbClr val="0B5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90618" y="2468880"/>
            <a:ext cx="3210458" cy="1554480"/>
          </a:xfrm>
          <a:prstGeom prst="roundRect">
            <a:avLst/>
          </a:prstGeom>
          <a:solidFill>
            <a:srgbClr val="E4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500" b="1">
                <a:solidFill>
                  <a:srgbClr val="1A1A1A"/>
                </a:solidFill>
              </a:rPr>
              <a:t>Each view is a cine loop,</a:t>
            </a:r>
          </a:p>
          <a:p>
            <a:pPr algn="ctr"/>
            <a:r>
              <a:rPr sz="1500" b="1">
                <a:solidFill>
                  <a:srgbClr val="1A1A1A"/>
                </a:solidFill>
              </a:rPr>
              <a:t>many frames</a:t>
            </a:r>
          </a:p>
        </p:txBody>
      </p:sp>
      <p:sp>
        <p:nvSpPr>
          <p:cNvPr id="8" name="Chevron 7"/>
          <p:cNvSpPr/>
          <p:nvPr/>
        </p:nvSpPr>
        <p:spPr>
          <a:xfrm>
            <a:off x="7746796" y="3017520"/>
            <a:ext cx="365760" cy="457200"/>
          </a:xfrm>
          <a:prstGeom prst="chevron">
            <a:avLst/>
          </a:prstGeom>
          <a:solidFill>
            <a:srgbClr val="0B5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58276" y="2468880"/>
            <a:ext cx="3210458" cy="1554480"/>
          </a:xfrm>
          <a:prstGeom prst="roundRect">
            <a:avLst/>
          </a:prstGeom>
          <a:solidFill>
            <a:srgbClr val="E4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500" b="1">
                <a:solidFill>
                  <a:srgbClr val="1A1A1A"/>
                </a:solidFill>
              </a:rPr>
              <a:t>The answer often sits in a</a:t>
            </a:r>
          </a:p>
          <a:p>
            <a:pPr algn="ctr"/>
            <a:r>
              <a:rPr sz="1500" b="1">
                <a:solidFill>
                  <a:srgbClr val="1A1A1A"/>
                </a:solidFill>
              </a:rPr>
              <a:t>view or frame never shown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457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</a:rPr>
              <a:t>A plain vision-language model gets one fixed frame sample. It cannot go look closer.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45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5F73"/>
                </a:solidFill>
              </a:rPr>
              <a:t>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457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</a:rPr>
              <a:t>Our idea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72768"/>
            <a:ext cx="1463040" cy="50292"/>
          </a:xfrm>
          <a:prstGeom prst="rect">
            <a:avLst/>
          </a:prstGeom>
          <a:solidFill>
            <a:srgbClr val="0B5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651760"/>
            <a:ext cx="3210458" cy="1554480"/>
          </a:xfrm>
          <a:prstGeom prst="roundRect">
            <a:avLst/>
          </a:prstGeom>
          <a:solidFill>
            <a:srgbClr val="0B5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INSPECT</a:t>
            </a:r>
          </a:p>
          <a:p>
            <a:pPr algn="ctr"/>
            <a:r>
              <a:rPr sz="1500" b="1">
                <a:solidFill>
                  <a:srgbClr val="FFFFFF"/>
                </a:solidFill>
              </a:rPr>
              <a:t>view · frames · zoom</a:t>
            </a:r>
          </a:p>
        </p:txBody>
      </p:sp>
      <p:sp>
        <p:nvSpPr>
          <p:cNvPr id="6" name="Chevron 5"/>
          <p:cNvSpPr/>
          <p:nvPr/>
        </p:nvSpPr>
        <p:spPr>
          <a:xfrm>
            <a:off x="4079138" y="3200400"/>
            <a:ext cx="365760" cy="457200"/>
          </a:xfrm>
          <a:prstGeom prst="chevron">
            <a:avLst/>
          </a:prstGeom>
          <a:solidFill>
            <a:srgbClr val="0B5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90618" y="2651760"/>
            <a:ext cx="3210458" cy="1554480"/>
          </a:xfrm>
          <a:prstGeom prst="roundRect">
            <a:avLst/>
          </a:prstGeom>
          <a:solidFill>
            <a:srgbClr val="0B5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TRAIN with RL</a:t>
            </a:r>
          </a:p>
          <a:p>
            <a:pPr algn="ctr"/>
            <a:r>
              <a:rPr sz="1500" b="1">
                <a:solidFill>
                  <a:srgbClr val="FFFFFF"/>
                </a:solidFill>
              </a:rPr>
              <a:t>GRPO on verifiable rewards</a:t>
            </a:r>
          </a:p>
        </p:txBody>
      </p:sp>
      <p:sp>
        <p:nvSpPr>
          <p:cNvPr id="8" name="Chevron 7"/>
          <p:cNvSpPr/>
          <p:nvPr/>
        </p:nvSpPr>
        <p:spPr>
          <a:xfrm>
            <a:off x="7746796" y="3200400"/>
            <a:ext cx="365760" cy="457200"/>
          </a:xfrm>
          <a:prstGeom prst="chevron">
            <a:avLst/>
          </a:prstGeom>
          <a:solidFill>
            <a:srgbClr val="0B5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58276" y="2651760"/>
            <a:ext cx="3210458" cy="1554480"/>
          </a:xfrm>
          <a:prstGeom prst="roundRect">
            <a:avLst/>
          </a:prstGeom>
          <a:solidFill>
            <a:srgbClr val="0B5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GROUNDED ANSWER</a:t>
            </a:r>
          </a:p>
          <a:p>
            <a:pPr algn="ctr"/>
            <a:r>
              <a:rPr sz="1500" b="1">
                <a:solidFill>
                  <a:srgbClr val="FFFFFF"/>
                </a:solidFill>
              </a:rPr>
              <a:t>you see where it looked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54880"/>
            <a:ext cx="105457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</a:rPr>
              <a:t>Same base recipe as EchoSonar-R. Our difference: the tool, and a policy trained to use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45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5F73"/>
                </a:solidFill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457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</a:rPr>
              <a:t>The echo tool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72768"/>
            <a:ext cx="1463040" cy="50292"/>
          </a:xfrm>
          <a:prstGeom prst="rect">
            <a:avLst/>
          </a:prstGeom>
          <a:solidFill>
            <a:srgbClr val="0B5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651760"/>
            <a:ext cx="3210458" cy="1554480"/>
          </a:xfrm>
          <a:prstGeom prst="roundRect">
            <a:avLst/>
          </a:prstGeom>
          <a:solidFill>
            <a:srgbClr val="E4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500" b="1">
                <a:solidFill>
                  <a:srgbClr val="1A1A1A"/>
                </a:solidFill>
              </a:rPr>
              <a:t>select_view</a:t>
            </a:r>
          </a:p>
          <a:p>
            <a:pPr algn="ctr"/>
            <a:r>
              <a:rPr sz="1500" b="1">
                <a:solidFill>
                  <a:srgbClr val="1A1A1A"/>
                </a:solidFill>
              </a:rPr>
              <a:t>preview a named view</a:t>
            </a:r>
          </a:p>
        </p:txBody>
      </p:sp>
      <p:sp>
        <p:nvSpPr>
          <p:cNvPr id="6" name="Chevron 5"/>
          <p:cNvSpPr/>
          <p:nvPr/>
        </p:nvSpPr>
        <p:spPr>
          <a:xfrm>
            <a:off x="4079138" y="3200400"/>
            <a:ext cx="365760" cy="457200"/>
          </a:xfrm>
          <a:prstGeom prst="chevron">
            <a:avLst/>
          </a:prstGeom>
          <a:solidFill>
            <a:srgbClr val="0B5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90618" y="2651760"/>
            <a:ext cx="3210458" cy="1554480"/>
          </a:xfrm>
          <a:prstGeom prst="roundRect">
            <a:avLst/>
          </a:prstGeom>
          <a:solidFill>
            <a:srgbClr val="E4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500" b="1">
                <a:solidFill>
                  <a:srgbClr val="1A1A1A"/>
                </a:solidFill>
              </a:rPr>
              <a:t>select_frames</a:t>
            </a:r>
          </a:p>
          <a:p>
            <a:pPr algn="ctr"/>
            <a:r>
              <a:rPr sz="1500" b="1">
                <a:solidFill>
                  <a:srgbClr val="1A1A1A"/>
                </a:solidFill>
              </a:rPr>
              <a:t>pull high-res frames</a:t>
            </a:r>
          </a:p>
        </p:txBody>
      </p:sp>
      <p:sp>
        <p:nvSpPr>
          <p:cNvPr id="8" name="Chevron 7"/>
          <p:cNvSpPr/>
          <p:nvPr/>
        </p:nvSpPr>
        <p:spPr>
          <a:xfrm>
            <a:off x="7746796" y="3200400"/>
            <a:ext cx="365760" cy="457200"/>
          </a:xfrm>
          <a:prstGeom prst="chevron">
            <a:avLst/>
          </a:prstGeom>
          <a:solidFill>
            <a:srgbClr val="0B5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58276" y="2651760"/>
            <a:ext cx="3210458" cy="1554480"/>
          </a:xfrm>
          <a:prstGeom prst="roundRect">
            <a:avLst/>
          </a:prstGeom>
          <a:solidFill>
            <a:srgbClr val="E4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500" b="1">
                <a:solidFill>
                  <a:srgbClr val="1A1A1A"/>
                </a:solidFill>
              </a:rPr>
              <a:t>zoom</a:t>
            </a:r>
          </a:p>
          <a:p>
            <a:pPr algn="ctr"/>
            <a:r>
              <a:rPr sz="1500" b="1">
                <a:solidFill>
                  <a:srgbClr val="1A1A1A"/>
                </a:solidFill>
              </a:rPr>
              <a:t>crop a region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54880"/>
            <a:ext cx="105457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C5C5C"/>
                </a:solidFill>
              </a:rPr>
              <a:t>One composite tool, three ops. A net-new plug-in on upstream verl, no fork.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45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5F73"/>
                </a:solidFill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457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</a:rPr>
              <a:t>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72768"/>
            <a:ext cx="1463040" cy="50292"/>
          </a:xfrm>
          <a:prstGeom prst="rect">
            <a:avLst/>
          </a:prstGeom>
          <a:solidFill>
            <a:srgbClr val="0B5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2293543" cy="1371600"/>
          </a:xfrm>
          <a:prstGeom prst="roundRect">
            <a:avLst/>
          </a:prstGeom>
          <a:solidFill>
            <a:srgbClr val="E4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500" b="1">
                <a:solidFill>
                  <a:srgbClr val="1A1A1A"/>
                </a:solidFill>
              </a:rPr>
              <a:t>Qwen3-VL-8B</a:t>
            </a:r>
          </a:p>
        </p:txBody>
      </p:sp>
      <p:sp>
        <p:nvSpPr>
          <p:cNvPr id="6" name="Chevron 5"/>
          <p:cNvSpPr/>
          <p:nvPr/>
        </p:nvSpPr>
        <p:spPr>
          <a:xfrm>
            <a:off x="3162223" y="3017520"/>
            <a:ext cx="365760" cy="457200"/>
          </a:xfrm>
          <a:prstGeom prst="chevron">
            <a:avLst/>
          </a:prstGeom>
          <a:solidFill>
            <a:srgbClr val="0B5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73703" y="2560320"/>
            <a:ext cx="2293543" cy="1371600"/>
          </a:xfrm>
          <a:prstGeom prst="roundRect">
            <a:avLst/>
          </a:prstGeom>
          <a:solidFill>
            <a:srgbClr val="E4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500" b="1">
                <a:solidFill>
                  <a:srgbClr val="1A1A1A"/>
                </a:solidFill>
              </a:rPr>
              <a:t>Cold-start SFT</a:t>
            </a:r>
          </a:p>
        </p:txBody>
      </p:sp>
      <p:sp>
        <p:nvSpPr>
          <p:cNvPr id="8" name="Chevron 7"/>
          <p:cNvSpPr/>
          <p:nvPr/>
        </p:nvSpPr>
        <p:spPr>
          <a:xfrm>
            <a:off x="5912967" y="3017520"/>
            <a:ext cx="365760" cy="457200"/>
          </a:xfrm>
          <a:prstGeom prst="chevron">
            <a:avLst/>
          </a:prstGeom>
          <a:solidFill>
            <a:srgbClr val="0B5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24447" y="2560320"/>
            <a:ext cx="2293543" cy="1371600"/>
          </a:xfrm>
          <a:prstGeom prst="roundRect">
            <a:avLst/>
          </a:prstGeom>
          <a:solidFill>
            <a:srgbClr val="E4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500" b="1">
                <a:solidFill>
                  <a:srgbClr val="1A1A1A"/>
                </a:solidFill>
              </a:rPr>
              <a:t>GRPO</a:t>
            </a:r>
          </a:p>
        </p:txBody>
      </p:sp>
      <p:sp>
        <p:nvSpPr>
          <p:cNvPr id="10" name="Chevron 9"/>
          <p:cNvSpPr/>
          <p:nvPr/>
        </p:nvSpPr>
        <p:spPr>
          <a:xfrm>
            <a:off x="8663711" y="3017520"/>
            <a:ext cx="365760" cy="457200"/>
          </a:xfrm>
          <a:prstGeom prst="chevron">
            <a:avLst/>
          </a:prstGeom>
          <a:solidFill>
            <a:srgbClr val="0B5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075191" y="2560320"/>
            <a:ext cx="2293543" cy="1371600"/>
          </a:xfrm>
          <a:prstGeom prst="roundRect">
            <a:avLst/>
          </a:prstGeom>
          <a:solidFill>
            <a:srgbClr val="E4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500" b="1">
                <a:solidFill>
                  <a:srgbClr val="1A1A1A"/>
                </a:solidFill>
              </a:rPr>
              <a:t>Evaluation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297680"/>
            <a:ext cx="10545775" cy="731520"/>
          </a:xfrm>
          <a:prstGeom prst="roundRect">
            <a:avLst/>
          </a:prstGeom>
          <a:solidFill>
            <a:srgbClr val="E4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700" b="1">
                <a:solidFill>
                  <a:srgbClr val="1A1A1A"/>
                </a:solidFill>
              </a:rPr>
              <a:t>reward  =  outcome  +  format  +  tool-use bonus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303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C5C5C"/>
                </a:solidFill>
              </a:rPr>
              <a:t>Classification reward is balanced: the data is ~82% "no".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45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5F73"/>
                </a:solidFill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457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</a:rPr>
              <a:t>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72768"/>
            <a:ext cx="1463040" cy="50292"/>
          </a:xfrm>
          <a:prstGeom prst="rect">
            <a:avLst/>
          </a:prstGeom>
          <a:solidFill>
            <a:srgbClr val="0B5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468880"/>
            <a:ext cx="2362123" cy="146304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CF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500" b="0">
                <a:solidFill>
                  <a:srgbClr val="1A1A1A"/>
                </a:solidFill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2362123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0B5F73"/>
                </a:solidFill>
              </a:rPr>
              <a:t>102K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01568"/>
            <a:ext cx="236212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C5C5C"/>
                </a:solidFill>
              </a:rPr>
              <a:t>VQA 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50843" y="2468880"/>
            <a:ext cx="2362123" cy="146304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CF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500" b="0">
                <a:solidFill>
                  <a:srgbClr val="1A1A1A"/>
                </a:solidFill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0843" y="2651760"/>
            <a:ext cx="2362123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0B5F73"/>
                </a:solidFill>
              </a:rPr>
              <a:t>4,028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0843" y="3401568"/>
            <a:ext cx="236212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C5C5C"/>
                </a:solidFill>
              </a:rPr>
              <a:t>studies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2468880"/>
            <a:ext cx="2362123" cy="146304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CF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500" b="0">
                <a:solidFill>
                  <a:srgbClr val="1A1A1A"/>
                </a:solidFill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2651760"/>
            <a:ext cx="2362123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0B5F73"/>
                </a:solidFill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8727" y="3401568"/>
            <a:ext cx="236212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C5C5C"/>
                </a:solidFill>
              </a:rPr>
              <a:t>question types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611" y="2468880"/>
            <a:ext cx="2362123" cy="1463040"/>
          </a:xfrm>
          <a:prstGeom prst="roundRect">
            <a:avLst/>
          </a:prstGeom>
          <a:solidFill>
            <a:srgbClr val="F3F7F8"/>
          </a:solidFill>
          <a:ln w="12700">
            <a:solidFill>
              <a:srgbClr val="CF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500" b="0">
                <a:solidFill>
                  <a:srgbClr val="1A1A1A"/>
                </a:solidFill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611" y="2651760"/>
            <a:ext cx="2362123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0B5F73"/>
                </a:solidFill>
              </a:rPr>
              <a:t>~19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611" y="3401568"/>
            <a:ext cx="236212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C5C5C"/>
                </a:solidFill>
              </a:rPr>
              <a:t>views per study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2976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C5C5C"/>
                </a:solidFill>
              </a:rPr>
              <a:t>Private dataset, shared with EchoSonar-R. Held-out test: 1,215 studies, zero overlap with training.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45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5F73"/>
                </a:solidFill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457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</a:rPr>
              <a:t>Question-type mix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72768"/>
            <a:ext cx="1463040" cy="50292"/>
          </a:xfrm>
          <a:prstGeom prst="rect">
            <a:avLst/>
          </a:prstGeom>
          <a:solidFill>
            <a:srgbClr val="0B5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340864"/>
            <a:ext cx="30175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structure_description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2432304"/>
            <a:ext cx="5882335" cy="420623"/>
          </a:xfrm>
          <a:prstGeom prst="roundRect">
            <a:avLst/>
          </a:prstGeom>
          <a:solidFill>
            <a:srgbClr val="E7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500" b="0">
                <a:solidFill>
                  <a:srgbClr val="1A1A1A"/>
                </a:solidFill>
              </a:rP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2432304"/>
            <a:ext cx="5176454" cy="420623"/>
          </a:xfrm>
          <a:prstGeom prst="roundRect">
            <a:avLst/>
          </a:prstGeom>
          <a:solidFill>
            <a:srgbClr val="0B5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500" b="0">
                <a:solidFill>
                  <a:srgbClr val="1A1A1A"/>
                </a:solidFill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4255" y="2340864"/>
            <a:ext cx="1463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5C5C5C"/>
                </a:solidFill>
              </a:rPr>
              <a:t>44%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07792"/>
            <a:ext cx="30175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abnormality_classification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2999232"/>
            <a:ext cx="5882335" cy="420623"/>
          </a:xfrm>
          <a:prstGeom prst="roundRect">
            <a:avLst/>
          </a:prstGeom>
          <a:solidFill>
            <a:srgbClr val="E7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500" b="0">
                <a:solidFill>
                  <a:srgbClr val="1A1A1A"/>
                </a:solidFill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0" y="2999232"/>
            <a:ext cx="5176454" cy="420623"/>
          </a:xfrm>
          <a:prstGeom prst="roundRect">
            <a:avLst/>
          </a:prstGeom>
          <a:solidFill>
            <a:srgbClr val="0B5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500" b="0">
                <a:solidFill>
                  <a:srgbClr val="1A1A1A"/>
                </a:solidFill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14255" y="2907792"/>
            <a:ext cx="1463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5C5C5C"/>
                </a:solidFill>
              </a:rPr>
              <a:t>44%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74720"/>
            <a:ext cx="30175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abnormality_list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0" y="3566160"/>
            <a:ext cx="5882335" cy="420623"/>
          </a:xfrm>
          <a:prstGeom prst="roundRect">
            <a:avLst/>
          </a:prstGeom>
          <a:solidFill>
            <a:srgbClr val="E7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500" b="0">
                <a:solidFill>
                  <a:srgbClr val="1A1A1A"/>
                </a:solidFill>
              </a:rPr>
              <a:t/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0" y="3566160"/>
            <a:ext cx="470586" cy="420623"/>
          </a:xfrm>
          <a:prstGeom prst="roundRect">
            <a:avLst/>
          </a:prstGeom>
          <a:solidFill>
            <a:srgbClr val="0B5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500" b="0">
                <a:solidFill>
                  <a:srgbClr val="1A1A1A"/>
                </a:solidFill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14255" y="3474720"/>
            <a:ext cx="1463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5C5C5C"/>
                </a:solidFill>
              </a:rPr>
              <a:t>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041648"/>
            <a:ext cx="30175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conclusion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0" y="4133087"/>
            <a:ext cx="5882335" cy="420623"/>
          </a:xfrm>
          <a:prstGeom prst="roundRect">
            <a:avLst/>
          </a:prstGeom>
          <a:solidFill>
            <a:srgbClr val="E7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500" b="0">
                <a:solidFill>
                  <a:srgbClr val="1A1A1A"/>
                </a:solidFill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0" y="4133087"/>
            <a:ext cx="470586" cy="420623"/>
          </a:xfrm>
          <a:prstGeom prst="roundRect">
            <a:avLst/>
          </a:prstGeom>
          <a:solidFill>
            <a:srgbClr val="0B5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500" b="0">
                <a:solidFill>
                  <a:srgbClr val="1A1A1A"/>
                </a:solidFill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14255" y="4041648"/>
            <a:ext cx="1463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5C5C5C"/>
                </a:solidFill>
              </a:rPr>
              <a:t>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608576"/>
            <a:ext cx="30175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full_report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0" y="4700016"/>
            <a:ext cx="5882335" cy="420623"/>
          </a:xfrm>
          <a:prstGeom prst="roundRect">
            <a:avLst/>
          </a:prstGeom>
          <a:solidFill>
            <a:srgbClr val="E7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500" b="0">
                <a:solidFill>
                  <a:srgbClr val="1A1A1A"/>
                </a:solidFill>
              </a:rPr>
              <a:t/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0" y="4700016"/>
            <a:ext cx="470586" cy="420623"/>
          </a:xfrm>
          <a:prstGeom prst="roundRect">
            <a:avLst/>
          </a:prstGeom>
          <a:solidFill>
            <a:srgbClr val="0B5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500" b="0">
                <a:solidFill>
                  <a:srgbClr val="1A1A1A"/>
                </a:solidFill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14255" y="4608576"/>
            <a:ext cx="1463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5C5C5C"/>
                </a:solidFill>
              </a:rPr>
              <a:t>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486400"/>
            <a:ext cx="1054577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C5C5C"/>
                </a:solidFill>
              </a:rPr>
              <a:t>Two types are ~88% of the corpus. The three report types are one per study, and they drive the text metrics. Sampling caps per type, not per study.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45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5F73"/>
                </a:solidFill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457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</a:rPr>
              <a:t>Abnormality prevalence (test set)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72768"/>
            <a:ext cx="1463040" cy="50292"/>
          </a:xfrm>
          <a:prstGeom prst="rect">
            <a:avLst/>
          </a:prstGeom>
          <a:solidFill>
            <a:srgbClr val="0B5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37943"/>
            <a:ext cx="3017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TV regurgitation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1929384"/>
            <a:ext cx="5882335" cy="219456"/>
          </a:xfrm>
          <a:prstGeom prst="roundRect">
            <a:avLst/>
          </a:prstGeom>
          <a:solidFill>
            <a:srgbClr val="E7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500" b="0">
                <a:solidFill>
                  <a:srgbClr val="1A1A1A"/>
                </a:solidFill>
              </a:rP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1929384"/>
            <a:ext cx="5352925" cy="219456"/>
          </a:xfrm>
          <a:prstGeom prst="roundRect">
            <a:avLst/>
          </a:prstGeom>
          <a:solidFill>
            <a:srgbClr val="0B5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500" b="0">
                <a:solidFill>
                  <a:srgbClr val="1A1A1A"/>
                </a:solidFill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4255" y="1837943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5C5C5C"/>
                </a:solidFill>
              </a:rPr>
              <a:t>54.6%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03703"/>
            <a:ext cx="3017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MV regurgitation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2295144"/>
            <a:ext cx="5882335" cy="219456"/>
          </a:xfrm>
          <a:prstGeom prst="roundRect">
            <a:avLst/>
          </a:prstGeom>
          <a:solidFill>
            <a:srgbClr val="E7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500" b="0">
                <a:solidFill>
                  <a:srgbClr val="1A1A1A"/>
                </a:solidFill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0" y="2295144"/>
            <a:ext cx="5333317" cy="219456"/>
          </a:xfrm>
          <a:prstGeom prst="roundRect">
            <a:avLst/>
          </a:prstGeom>
          <a:solidFill>
            <a:srgbClr val="0B5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500" b="0">
                <a:solidFill>
                  <a:srgbClr val="1A1A1A"/>
                </a:solidFill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14255" y="2203703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5C5C5C"/>
                </a:solidFill>
              </a:rPr>
              <a:t>54.4%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569463"/>
            <a:ext cx="3017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LA enlargement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0" y="2660903"/>
            <a:ext cx="5882335" cy="219456"/>
          </a:xfrm>
          <a:prstGeom prst="roundRect">
            <a:avLst/>
          </a:prstGeom>
          <a:solidFill>
            <a:srgbClr val="E7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500" b="0">
                <a:solidFill>
                  <a:srgbClr val="1A1A1A"/>
                </a:solidFill>
              </a:rPr>
              <a:t/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0" y="2660903"/>
            <a:ext cx="2676462" cy="219456"/>
          </a:xfrm>
          <a:prstGeom prst="roundRect">
            <a:avLst/>
          </a:prstGeom>
          <a:solidFill>
            <a:srgbClr val="0B5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500" b="0">
                <a:solidFill>
                  <a:srgbClr val="1A1A1A"/>
                </a:solidFill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14255" y="2569463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5C5C5C"/>
                </a:solidFill>
              </a:rPr>
              <a:t>27.3%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935224"/>
            <a:ext cx="3017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LV systolic dysfunction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0" y="3026664"/>
            <a:ext cx="5882335" cy="219456"/>
          </a:xfrm>
          <a:prstGeom prst="roundRect">
            <a:avLst/>
          </a:prstGeom>
          <a:solidFill>
            <a:srgbClr val="E7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500" b="0">
                <a:solidFill>
                  <a:srgbClr val="1A1A1A"/>
                </a:solidFill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0" y="3026664"/>
            <a:ext cx="1598034" cy="219456"/>
          </a:xfrm>
          <a:prstGeom prst="roundRect">
            <a:avLst/>
          </a:prstGeom>
          <a:solidFill>
            <a:srgbClr val="0B5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500" b="0">
                <a:solidFill>
                  <a:srgbClr val="1A1A1A"/>
                </a:solidFill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14255" y="2935224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5C5C5C"/>
                </a:solidFill>
              </a:rPr>
              <a:t>16.3%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300984"/>
            <a:ext cx="3017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AV regurgitation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0" y="3392424"/>
            <a:ext cx="5882335" cy="219456"/>
          </a:xfrm>
          <a:prstGeom prst="roundRect">
            <a:avLst/>
          </a:prstGeom>
          <a:solidFill>
            <a:srgbClr val="E7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500" b="0">
                <a:solidFill>
                  <a:srgbClr val="1A1A1A"/>
                </a:solidFill>
              </a:rPr>
              <a:t/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0" y="3392424"/>
            <a:ext cx="1509799" cy="219456"/>
          </a:xfrm>
          <a:prstGeom prst="roundRect">
            <a:avLst/>
          </a:prstGeom>
          <a:solidFill>
            <a:srgbClr val="0B5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500" b="0">
                <a:solidFill>
                  <a:srgbClr val="1A1A1A"/>
                </a:solidFill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14255" y="3300984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5C5C5C"/>
                </a:solidFill>
              </a:rPr>
              <a:t>15.4%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666744"/>
            <a:ext cx="3017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AV stenosis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0" y="3758183"/>
            <a:ext cx="5882335" cy="219456"/>
          </a:xfrm>
          <a:prstGeom prst="roundRect">
            <a:avLst/>
          </a:prstGeom>
          <a:solidFill>
            <a:srgbClr val="E7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500" b="0">
                <a:solidFill>
                  <a:srgbClr val="1A1A1A"/>
                </a:solidFill>
              </a:rPr>
              <a:t/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40480" y="3758183"/>
            <a:ext cx="931369" cy="219456"/>
          </a:xfrm>
          <a:prstGeom prst="roundRect">
            <a:avLst/>
          </a:prstGeom>
          <a:solidFill>
            <a:srgbClr val="0B5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500" b="0">
                <a:solidFill>
                  <a:srgbClr val="1A1A1A"/>
                </a:solidFill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14255" y="3666744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5C5C5C"/>
                </a:solidFill>
              </a:rPr>
              <a:t>9.5%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032504"/>
            <a:ext cx="3017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MV calcification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40480" y="4123944"/>
            <a:ext cx="5882335" cy="219456"/>
          </a:xfrm>
          <a:prstGeom prst="roundRect">
            <a:avLst/>
          </a:prstGeom>
          <a:solidFill>
            <a:srgbClr val="E7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500" b="0">
                <a:solidFill>
                  <a:srgbClr val="1A1A1A"/>
                </a:solidFill>
              </a:rPr>
              <a:t/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0480" y="4123944"/>
            <a:ext cx="843134" cy="219456"/>
          </a:xfrm>
          <a:prstGeom prst="roundRect">
            <a:avLst/>
          </a:prstGeom>
          <a:solidFill>
            <a:srgbClr val="0B5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500" b="0">
                <a:solidFill>
                  <a:srgbClr val="1A1A1A"/>
                </a:solidFill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14255" y="4032504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5C5C5C"/>
                </a:solidFill>
              </a:rPr>
              <a:t>8.6%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398264"/>
            <a:ext cx="3017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LV enlargement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40480" y="4489703"/>
            <a:ext cx="5882335" cy="219456"/>
          </a:xfrm>
          <a:prstGeom prst="roundRect">
            <a:avLst/>
          </a:prstGeom>
          <a:solidFill>
            <a:srgbClr val="E7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500" b="0">
                <a:solidFill>
                  <a:srgbClr val="1A1A1A"/>
                </a:solidFill>
              </a:rPr>
              <a:t/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840480" y="4489703"/>
            <a:ext cx="558821" cy="219456"/>
          </a:xfrm>
          <a:prstGeom prst="roundRect">
            <a:avLst/>
          </a:prstGeom>
          <a:solidFill>
            <a:srgbClr val="0B5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500" b="0">
                <a:solidFill>
                  <a:srgbClr val="1A1A1A"/>
                </a:solidFill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14255" y="4398264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5C5C5C"/>
                </a:solidFill>
              </a:rPr>
              <a:t>5.7%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4764024"/>
            <a:ext cx="3017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RA enlargement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840480" y="4855464"/>
            <a:ext cx="5882335" cy="219456"/>
          </a:xfrm>
          <a:prstGeom prst="roundRect">
            <a:avLst/>
          </a:prstGeom>
          <a:solidFill>
            <a:srgbClr val="E7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500" b="0">
                <a:solidFill>
                  <a:srgbClr val="1A1A1A"/>
                </a:solidFill>
              </a:rPr>
              <a:t/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840480" y="4855464"/>
            <a:ext cx="470586" cy="219456"/>
          </a:xfrm>
          <a:prstGeom prst="roundRect">
            <a:avLst/>
          </a:prstGeom>
          <a:solidFill>
            <a:srgbClr val="0B5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500" b="0">
                <a:solidFill>
                  <a:srgbClr val="1A1A1A"/>
                </a:solidFill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14255" y="4764024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5C5C5C"/>
                </a:solidFill>
              </a:rPr>
              <a:t>4.8%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129784"/>
            <a:ext cx="3017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RV enlargement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840480" y="5221224"/>
            <a:ext cx="5882335" cy="219456"/>
          </a:xfrm>
          <a:prstGeom prst="roundRect">
            <a:avLst/>
          </a:prstGeom>
          <a:solidFill>
            <a:srgbClr val="E7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500" b="0">
                <a:solidFill>
                  <a:srgbClr val="1A1A1A"/>
                </a:solidFill>
              </a:rPr>
              <a:t/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840480" y="5221224"/>
            <a:ext cx="245097" cy="219456"/>
          </a:xfrm>
          <a:prstGeom prst="roundRect">
            <a:avLst/>
          </a:prstGeom>
          <a:solidFill>
            <a:srgbClr val="0B5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500" b="0">
                <a:solidFill>
                  <a:srgbClr val="1A1A1A"/>
                </a:solidFill>
              </a:rPr>
              <a:t/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14255" y="5129784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5C5C5C"/>
                </a:solidFill>
              </a:rPr>
              <a:t>2.5%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5495544"/>
            <a:ext cx="3017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Bicuspid AV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840480" y="5586983"/>
            <a:ext cx="5882335" cy="219456"/>
          </a:xfrm>
          <a:prstGeom prst="roundRect">
            <a:avLst/>
          </a:prstGeom>
          <a:solidFill>
            <a:srgbClr val="E7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500" b="0">
                <a:solidFill>
                  <a:srgbClr val="1A1A1A"/>
                </a:solidFill>
              </a:rPr>
              <a:t/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840480" y="5586983"/>
            <a:ext cx="245097" cy="219456"/>
          </a:xfrm>
          <a:prstGeom prst="roundRect">
            <a:avLst/>
          </a:prstGeom>
          <a:solidFill>
            <a:srgbClr val="0B5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500" b="0">
                <a:solidFill>
                  <a:srgbClr val="1A1A1A"/>
                </a:solidFill>
              </a:rPr>
              <a:t/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14255" y="5495544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5C5C5C"/>
                </a:solidFill>
              </a:rPr>
              <a:t>2.5%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" y="6035040"/>
            <a:ext cx="105457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</a:rPr>
              <a:t>11 categories, 55% down to 2.5%. Classification answers are ~82% "no", so we score balanced accuracy, macro-averaged over diseases.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45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5F73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457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</a:rPr>
              <a:t>Cold-start SFT converged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72768"/>
            <a:ext cx="1463040" cy="50292"/>
          </a:xfrm>
          <a:prstGeom prst="rect">
            <a:avLst/>
          </a:prstGeom>
          <a:solidFill>
            <a:srgbClr val="0B5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2011680"/>
          <a:ext cx="10545775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486400"/>
            <a:ext cx="105457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</a:rPr>
              <a:t>616 steps on the balanced 19,734-record sample. Loss 1.11 to 0.13.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45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5F73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457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</a:rPr>
              <a:t>The model uses the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72768"/>
            <a:ext cx="1463040" cy="50292"/>
          </a:xfrm>
          <a:prstGeom prst="rect">
            <a:avLst/>
          </a:prstGeom>
          <a:solidFill>
            <a:srgbClr val="0B5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874519"/>
          <a:ext cx="106984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  <a:gridCol w="4297680"/>
              </a:tblGrid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B5F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B5F7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A1A"/>
                          </a:solidFill>
                        </a:defRPr>
                      </a:pPr>
                      <a:r>
                        <a:t>Episodes that call the tool</a:t>
                      </a:r>
                    </a:p>
                  </a:txBody>
                  <a:tcPr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</a:defRPr>
                      </a:pPr>
                      <a:r>
                        <a:t>100%   (500 / 500)</a:t>
                      </a:r>
                    </a:p>
                  </a:txBody>
                  <a:tcPr>
                    <a:solidFill>
                      <a:srgbClr val="F3F7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A1A"/>
                          </a:solidFill>
                        </a:defRPr>
                      </a:pPr>
                      <a:r>
                        <a:t>Tool calls per episode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</a:defRPr>
                      </a:pPr>
                      <a:r>
                        <a:t>4.2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A1A"/>
                          </a:solidFill>
                        </a:defRPr>
                      </a:pPr>
                      <a:r>
                        <a:t>Total tool calls</a:t>
                      </a:r>
                    </a:p>
                  </a:txBody>
                  <a:tcPr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</a:defRPr>
                      </a:pPr>
                      <a:r>
                        <a:t>2,121</a:t>
                      </a:r>
                    </a:p>
                  </a:txBody>
                  <a:tcPr>
                    <a:solidFill>
                      <a:srgbClr val="F3F7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A1A"/>
                          </a:solidFill>
                        </a:defRPr>
                      </a:pPr>
                      <a:r>
                        <a:t>select_view  /  select_frames  /  zoom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</a:defRPr>
                      </a:pPr>
                      <a:r>
                        <a:t>2,096  /  22  / 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A1A"/>
                          </a:solidFill>
                        </a:defRPr>
                      </a:pPr>
                      <a:r>
                        <a:t>Malformed tool calls</a:t>
                      </a:r>
                    </a:p>
                  </a:txBody>
                  <a:tcPr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3F7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A1A"/>
                          </a:solidFill>
                        </a:defRPr>
                      </a:pPr>
                      <a:r>
                        <a:t>Failed tool calls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</a:defRPr>
                      </a:pPr>
                      <a:r>
                        <a:t>23   (1.1%)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A1A"/>
                          </a:solidFill>
                        </a:defRPr>
                      </a:pPr>
                      <a:r>
                        <a:t>Episodes ending with an answer</a:t>
                      </a:r>
                    </a:p>
                  </a:txBody>
                  <a:tcPr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</a:defRPr>
                      </a:pPr>
                      <a:r>
                        <a:t>446 / 500</a:t>
                      </a:r>
                    </a:p>
                  </a:txBody>
                  <a:tcPr>
                    <a:solidFill>
                      <a:srgbClr val="F3F7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989320"/>
            <a:ext cx="105457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C5C5C"/>
                </a:solidFill>
              </a:rPr>
              <a:t>The agent drives the loop on every episode and the loop is clean. It leans on view selection so far; frame-level ops are where GRPO has room to move.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45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5F73"/>
                </a:solidFill>
              </a:rPr>
              <a:t>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457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</a:rPr>
              <a:t>Where this goes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72768"/>
            <a:ext cx="1463040" cy="50292"/>
          </a:xfrm>
          <a:prstGeom prst="rect">
            <a:avLst/>
          </a:prstGeom>
          <a:solidFill>
            <a:srgbClr val="0B5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468880"/>
            <a:ext cx="3210458" cy="1463040"/>
          </a:xfrm>
          <a:prstGeom prst="roundRect">
            <a:avLst/>
          </a:prstGeom>
          <a:solidFill>
            <a:srgbClr val="E4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500" b="1">
                <a:solidFill>
                  <a:srgbClr val="1A1A1A"/>
                </a:solidFill>
              </a:rPr>
              <a:t>Run GRPO</a:t>
            </a:r>
          </a:p>
          <a:p>
            <a:pPr algn="ctr"/>
            <a:r>
              <a:rPr sz="1500" b="1">
                <a:solidFill>
                  <a:srgbClr val="1A1A1A"/>
                </a:solidFill>
              </a:rPr>
              <a:t>4x RTX A6000</a:t>
            </a:r>
          </a:p>
        </p:txBody>
      </p:sp>
      <p:sp>
        <p:nvSpPr>
          <p:cNvPr id="6" name="Chevron 5"/>
          <p:cNvSpPr/>
          <p:nvPr/>
        </p:nvSpPr>
        <p:spPr>
          <a:xfrm>
            <a:off x="4079138" y="2971800"/>
            <a:ext cx="365760" cy="457200"/>
          </a:xfrm>
          <a:prstGeom prst="chevron">
            <a:avLst/>
          </a:prstGeom>
          <a:solidFill>
            <a:srgbClr val="0B5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90618" y="2468880"/>
            <a:ext cx="3210458" cy="1463040"/>
          </a:xfrm>
          <a:prstGeom prst="roundRect">
            <a:avLst/>
          </a:prstGeom>
          <a:solidFill>
            <a:srgbClr val="E4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500" b="1">
                <a:solidFill>
                  <a:srgbClr val="1A1A1A"/>
                </a:solidFill>
              </a:rPr>
              <a:t>Balanced reward</a:t>
            </a:r>
          </a:p>
          <a:p>
            <a:pPr algn="ctr"/>
            <a:r>
              <a:rPr sz="1500" b="1">
                <a:solidFill>
                  <a:srgbClr val="1A1A1A"/>
                </a:solidFill>
              </a:rPr>
              <a:t>fix the "no" bias</a:t>
            </a:r>
          </a:p>
        </p:txBody>
      </p:sp>
      <p:sp>
        <p:nvSpPr>
          <p:cNvPr id="8" name="Chevron 7"/>
          <p:cNvSpPr/>
          <p:nvPr/>
        </p:nvSpPr>
        <p:spPr>
          <a:xfrm>
            <a:off x="7746796" y="2971800"/>
            <a:ext cx="365760" cy="457200"/>
          </a:xfrm>
          <a:prstGeom prst="chevron">
            <a:avLst/>
          </a:prstGeom>
          <a:solidFill>
            <a:srgbClr val="0B5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58276" y="2468880"/>
            <a:ext cx="3210458" cy="1463040"/>
          </a:xfrm>
          <a:prstGeom prst="roundRect">
            <a:avLst/>
          </a:prstGeom>
          <a:solidFill>
            <a:srgbClr val="E4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500" b="1">
                <a:solidFill>
                  <a:srgbClr val="1A1A1A"/>
                </a:solidFill>
              </a:rPr>
              <a:t>Full eval</a:t>
            </a:r>
          </a:p>
          <a:p>
            <a:pPr algn="ctr"/>
            <a:r>
              <a:rPr sz="1500" b="1">
                <a:solidFill>
                  <a:srgbClr val="1A1A1A"/>
                </a:solidFill>
              </a:rPr>
              <a:t>vs EchoSonar-R Table 1 &amp;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389120"/>
            <a:ext cx="10545775" cy="822960"/>
          </a:xfrm>
          <a:prstGeom prst="roundRect">
            <a:avLst/>
          </a:prstGeom>
          <a:solidFill>
            <a:srgbClr val="0B5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ASK:  sign-off to run GRPO on the CUDA box now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